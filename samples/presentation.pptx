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20100000">
            <a:off x="292608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0" b="1">
                <a:solidFill>
                  <a:srgbClr val="F4D9D6"/>
                </a:solidFill>
              </a:defRPr>
            </a:pPr>
            <a:r>
              <a:t>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C2434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66074"/>
                </a:solidFill>
              </a:defRPr>
            </a:pPr>
            <a:r>
              <a:t>Campus Lost &amp; Found · Sample Institute of Technology · Dept. of CSE · sample by Final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1C2434"/>
                </a:solidFill>
              </a:defRPr>
            </a:pPr>
            <a:r>
              <a:t>Campus Lost &amp;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566074"/>
                </a:solidFill>
              </a:defRPr>
            </a:pPr>
            <a:r>
              <a:t>A web application for reporting and reclaiming lost items on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[Student name] ([USN]) · [Student name] ([USN])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Guide: [Guide name] · Department of CSE ·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20100000">
            <a:off x="292608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0" b="1">
                <a:solidFill>
                  <a:srgbClr val="F4D9D6"/>
                </a:solidFill>
              </a:defRPr>
            </a:pPr>
            <a:r>
              <a:t>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C2434"/>
                </a:solidFill>
              </a:defRPr>
            </a:pPr>
            <a:r>
              <a:t>Problem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66074"/>
                </a:solidFill>
              </a:defRPr>
            </a:pPr>
            <a:r>
              <a:t>Campus Lost &amp; Found · Sample Institute of Technology · Dept. of CSE · sample by Final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Lost items are reported on notice boards and group chats that nobody can search.</a:t>
            </a:r>
          </a:p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Finders cannot check that a claimant really owns an item.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Objectives</a:t>
            </a:r>
          </a:p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Searchable lost and found posts with photos</a:t>
            </a:r>
          </a:p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Ownership checked with a proof question</a:t>
            </a:r>
          </a:p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Hand-over arranged in private messages</a:t>
            </a:r>
          </a:p>
          <a:p>
            <a:pPr>
              <a:spcAft>
                <a:spcPts val="800"/>
              </a:spcAft>
              <a:defRPr sz="1900" b="0">
                <a:solidFill>
                  <a:srgbClr val="1C2434"/>
                </a:solidFill>
              </a:defRPr>
            </a:pPr>
            <a:r>
              <a:t>Moderation by the campus office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20100000">
            <a:off x="292608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0" b="1">
                <a:solidFill>
                  <a:srgbClr val="F4D9D6"/>
                </a:solidFill>
              </a:defRPr>
            </a:pPr>
            <a:r>
              <a:t>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C2434"/>
                </a:solidFill>
              </a:defRPr>
            </a:pPr>
            <a:r>
              <a:t>System design: data flow (level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66074"/>
                </a:solidFill>
              </a:defRPr>
            </a:pPr>
            <a:r>
              <a:t>Campus Lost &amp; Found · Sample Institute of Technology · Dept. of CSE · sample by Final Commit</a:t>
            </a:r>
          </a:p>
        </p:txBody>
      </p:sp>
      <p:pic>
        <p:nvPicPr>
          <p:cNvPr id="6" name="Picture 5" descr="dfd-leve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94161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C2434"/>
                </a:solidFill>
              </a:defRPr>
            </a:pPr>
            <a:r>
              <a:t>Front end: HTML, CSS, JavaScript modules</a:t>
            </a:r>
          </a:p>
          <a:p>
            <a:pPr>
              <a:spcAft>
                <a:spcPts val="800"/>
              </a:spcAft>
              <a:defRPr sz="1700" b="0">
                <a:solidFill>
                  <a:srgbClr val="1C2434"/>
                </a:solidFill>
              </a:defRPr>
            </a:pPr>
            <a:r>
              <a:t>API: Node.js + Express (REST, JSON)</a:t>
            </a:r>
          </a:p>
          <a:p>
            <a:pPr>
              <a:spcAft>
                <a:spcPts val="800"/>
              </a:spcAft>
              <a:defRPr sz="1700" b="0">
                <a:solidFill>
                  <a:srgbClr val="1C2434"/>
                </a:solidFill>
              </a:defRPr>
            </a:pPr>
            <a:r>
              <a:t>Database: SQLite via node:sqlite</a:t>
            </a:r>
          </a:p>
          <a:p>
            <a:pPr>
              <a:spcAft>
                <a:spcPts val="800"/>
              </a:spcAft>
              <a:defRPr sz="1700" b="0">
                <a:solidFill>
                  <a:srgbClr val="1C2434"/>
                </a:solidFill>
              </a:defRPr>
            </a:pPr>
            <a:r>
              <a:t>Auth: scrypt password hashes, session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20100000">
            <a:off x="292608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0" b="1">
                <a:solidFill>
                  <a:srgbClr val="F4D9D6"/>
                </a:solidFill>
              </a:defRPr>
            </a:pPr>
            <a:r>
              <a:t>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C2434"/>
                </a:solidFill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66074"/>
                </a:solidFill>
              </a:defRPr>
            </a:pPr>
            <a:r>
              <a:t>Campus Lost &amp; Found · Sample Institute of Technology · Dept. of CSE · sample by Final Commit</a:t>
            </a:r>
          </a:p>
        </p:txBody>
      </p:sp>
      <p:pic>
        <p:nvPicPr>
          <p:cNvPr id="6" name="Picture 5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2674801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137160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5 tables: users, sessions, items, claims, messages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UNIQUE (item_id, claimant_id): one claim per person per item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Foreign keys keep claims and messages tied to real items and users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Prepared statements for every query (no SQL injection)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20100000">
            <a:off x="292608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0" b="1">
                <a:solidFill>
                  <a:srgbClr val="F4D9D6"/>
                </a:solidFill>
              </a:defRPr>
            </a:pPr>
            <a:r>
              <a:t>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C2434"/>
                </a:solidFill>
              </a:defRPr>
            </a:pPr>
            <a:r>
              <a:t>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66074"/>
                </a:solidFill>
              </a:defRPr>
            </a:pPr>
            <a:r>
              <a:t>Campus Lost &amp; Found · Sample Institute of Technology · Dept. of CSE · sample by Final Commit</a:t>
            </a:r>
          </a:p>
        </p:txBody>
      </p:sp>
      <p:pic>
        <p:nvPicPr>
          <p:cNvPr id="6" name="Picture 5" descr="brows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536192" cy="5120640"/>
          </a:xfrm>
          <a:prstGeom prst="rect">
            <a:avLst/>
          </a:prstGeom>
        </p:spPr>
      </p:pic>
      <p:pic>
        <p:nvPicPr>
          <p:cNvPr id="7" name="Picture 6" descr="claim-th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188720"/>
            <a:ext cx="49784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23360" y="57607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66074"/>
                </a:solidFill>
              </a:defRPr>
            </a:pPr>
            <a:r>
              <a:t>Left: browsing posts on a phone. Right: the poster approves a claim and arranges the hand-over.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20100000">
            <a:off x="292608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0" b="1">
                <a:solidFill>
                  <a:srgbClr val="F4D9D6"/>
                </a:solidFill>
              </a:defRPr>
            </a:pPr>
            <a:r>
              <a:t>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C2434"/>
                </a:solidFill>
              </a:defRPr>
            </a:pPr>
            <a:r>
              <a:t>Testing, results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66074"/>
                </a:solidFill>
              </a:defRPr>
            </a:pPr>
            <a:r>
              <a:t>Campus Lost &amp; Found · Sample Institute of Technology · Dept. of CSE · sample by Final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Testing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18 automated API checks pass, including permission rules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Full flow tested in a browser: post, claim, approve, message, return, moderate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Database file is not downloadable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Future work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Email or SMS alerts when a matching item is posted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Photos in a separate file store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College single sign-on</a:t>
            </a:r>
          </a:p>
          <a:p>
            <a:pPr>
              <a:spcAft>
                <a:spcPts val="800"/>
              </a:spcAft>
              <a:defRPr sz="1800" b="0">
                <a:solidFill>
                  <a:srgbClr val="1C2434"/>
                </a:solidFill>
              </a:defRPr>
            </a:pPr>
            <a:r>
              <a:t>Image matching between lost and found posts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